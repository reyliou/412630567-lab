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1000">
            <a:solidFill>
              <a:srgbClr val="08111F"/>
            </a:solidFill>
          </a:ln>
        </p:spPr>
        <p:txBody>
          <a:bodyPr/>
          <a:lstStyle/>
          <a:p/>
        </p:txBody>
      </p:sp>
      <p:sp>
        <p:nvSpPr>
          <p:cNvPr id="100" name="panel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0A1A2A"/>
          </a:solidFill>
          <a:ln w="11000">
            <a:solidFill>
              <a:srgbClr val="0A1A2A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685800" y="4389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2FE6D0"/>
                </a:solidFill>
                <a:latin typeface="Aptos"/>
                <a:ea typeface="Aptos"/>
              </a:rPr>
              <a:t>SECURITY LAB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85039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FFB35C"/>
                </a:solidFill>
                <a:latin typeface="Aptos"/>
                <a:ea typeface="Aptos"/>
              </a:rPr>
              <a:t>COVER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1097280"/>
            <a:ext cx="8366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2500" b="1">
                <a:solidFill>
                  <a:srgbClr val="EAF3F8"/>
                </a:solidFill>
                <a:latin typeface="Microsoft JhengHei"/>
                <a:ea typeface="Microsoft JhengHei"/>
              </a:rPr>
              <a:t>aiohttp Path Traversal 漏洞分析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6519672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700">
                <a:solidFill>
                  <a:srgbClr val="7893A4"/>
                </a:solidFill>
                <a:latin typeface="Aptos"/>
                <a:ea typeface="Aptos"/>
              </a:rPr>
              <a:t>CVE-2024-23334 | aiohttp Path Traversal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1874519"/>
            <a:ext cx="5760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3100" b="1">
                <a:solidFill>
                  <a:srgbClr val="2FE6D0"/>
                </a:solidFill>
                <a:latin typeface="Aptos Display"/>
                <a:ea typeface="Aptos Display"/>
              </a:rPr>
              <a:t>CVE-2024-23334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713232" y="2606040"/>
            <a:ext cx="6492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500">
                <a:solidFill>
                  <a:srgbClr val="92A7B3"/>
                </a:solidFill>
                <a:latin typeface="Microsoft JhengHei"/>
                <a:ea typeface="Microsoft JhengHei"/>
              </a:rPr>
              <a:t>以 NEO-MALL CTF Lab 展示任意檔案讀取攻擊鏈</a:t>
            </a:r>
          </a:p>
        </p:txBody>
      </p:sp>
      <p:sp>
        <p:nvSpPr>
          <p:cNvPr id="100" name="panel"/>
          <p:cNvSpPr/>
          <p:nvPr/>
        </p:nvSpPr>
        <p:spPr>
          <a:xfrm>
            <a:off x="777240" y="3977639"/>
            <a:ext cx="1737360" cy="914400"/>
          </a:xfrm>
          <a:prstGeom prst="roundRect">
            <a:avLst/>
          </a:prstGeom>
          <a:solidFill>
            <a:srgbClr val="0C1B2B"/>
          </a:solidFill>
          <a:ln w="11000">
            <a:solidFill>
              <a:srgbClr val="FFB35C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822960" y="4096511"/>
            <a:ext cx="1645919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2300" b="1">
                <a:solidFill>
                  <a:srgbClr val="FFB35C"/>
                </a:solidFill>
                <a:latin typeface="Aptos Display"/>
                <a:ea typeface="Aptos Display"/>
              </a:rPr>
              <a:t>CWE-22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850392" y="4507992"/>
            <a:ext cx="15910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900">
                <a:solidFill>
                  <a:srgbClr val="EAF3F8"/>
                </a:solidFill>
                <a:latin typeface="Microsoft JhengHei"/>
                <a:ea typeface="Microsoft JhengHei"/>
              </a:rPr>
              <a:t>Path Traversal</a:t>
            </a:r>
          </a:p>
        </p:txBody>
      </p:sp>
      <p:sp>
        <p:nvSpPr>
          <p:cNvPr id="100" name="panel"/>
          <p:cNvSpPr/>
          <p:nvPr/>
        </p:nvSpPr>
        <p:spPr>
          <a:xfrm>
            <a:off x="2743200" y="3977639"/>
            <a:ext cx="1737360" cy="914400"/>
          </a:xfrm>
          <a:prstGeom prst="roundRect">
            <a:avLst/>
          </a:prstGeom>
          <a:solidFill>
            <a:srgbClr val="0C1B2B"/>
          </a:solidFill>
          <a:ln w="11000">
            <a:solidFill>
              <a:srgbClr val="2FE6D0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2788920" y="4096511"/>
            <a:ext cx="1645919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2300" b="1">
                <a:solidFill>
                  <a:srgbClr val="2FE6D0"/>
                </a:solidFill>
                <a:latin typeface="Aptos Display"/>
                <a:ea typeface="Aptos Display"/>
              </a:rPr>
              <a:t>3.9.1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2816352" y="4507992"/>
            <a:ext cx="15910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900">
                <a:solidFill>
                  <a:srgbClr val="EAF3F8"/>
                </a:solidFill>
                <a:latin typeface="Microsoft JhengHei"/>
                <a:ea typeface="Microsoft JhengHei"/>
              </a:rPr>
              <a:t>Lab aiohttp 版本</a:t>
            </a:r>
          </a:p>
        </p:txBody>
      </p:sp>
      <p:sp>
        <p:nvSpPr>
          <p:cNvPr id="100" name="panel"/>
          <p:cNvSpPr/>
          <p:nvPr/>
        </p:nvSpPr>
        <p:spPr>
          <a:xfrm>
            <a:off x="4709160" y="3977639"/>
            <a:ext cx="1737360" cy="914400"/>
          </a:xfrm>
          <a:prstGeom prst="roundRect">
            <a:avLst/>
          </a:prstGeom>
          <a:solidFill>
            <a:srgbClr val="0C1B2B"/>
          </a:solidFill>
          <a:ln w="11000">
            <a:solidFill>
              <a:srgbClr val="72E28D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4754880" y="4096511"/>
            <a:ext cx="1645919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2300" b="1">
                <a:solidFill>
                  <a:srgbClr val="72E28D"/>
                </a:solidFill>
                <a:latin typeface="Aptos Display"/>
                <a:ea typeface="Aptos Display"/>
              </a:rPr>
              <a:t>3.9.2+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4782312" y="4507992"/>
            <a:ext cx="15910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900">
                <a:solidFill>
                  <a:srgbClr val="EAF3F8"/>
                </a:solidFill>
                <a:latin typeface="Microsoft JhengHei"/>
                <a:ea typeface="Microsoft JhengHei"/>
              </a:rPr>
              <a:t>修補版本</a:t>
            </a:r>
          </a:p>
        </p:txBody>
      </p:sp>
      <p:sp>
        <p:nvSpPr>
          <p:cNvPr id="100" name="panel"/>
          <p:cNvSpPr/>
          <p:nvPr/>
        </p:nvSpPr>
        <p:spPr>
          <a:xfrm>
            <a:off x="9098280" y="1234440"/>
            <a:ext cx="2148840" cy="502920"/>
          </a:xfrm>
          <a:prstGeom prst="roundRect">
            <a:avLst/>
          </a:prstGeom>
          <a:solidFill>
            <a:srgbClr val="0D2234"/>
          </a:solidFill>
          <a:ln w="11000">
            <a:solidFill>
              <a:srgbClr val="2FE6D0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9326880" y="138988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1100" b="1">
                <a:solidFill>
                  <a:srgbClr val="EAF3F8"/>
                </a:solidFill>
                <a:latin typeface="Aptos"/>
                <a:ea typeface="Aptos"/>
              </a:rPr>
              <a:t>User</a:t>
            </a:r>
          </a:p>
        </p:txBody>
      </p:sp>
      <p:sp>
        <p:nvSpPr>
          <p:cNvPr id="101" name="line"/>
          <p:cNvSpPr/>
          <p:nvPr/>
        </p:nvSpPr>
        <p:spPr>
          <a:xfrm>
            <a:off x="10149840" y="1755648"/>
            <a:ext cx="0" cy="393192"/>
          </a:xfrm>
          <a:prstGeom prst="line">
            <a:avLst/>
          </a:prstGeom>
          <a:ln w="16000">
            <a:solidFill>
              <a:srgbClr val="2FE6D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0" name="panel"/>
          <p:cNvSpPr/>
          <p:nvPr/>
        </p:nvSpPr>
        <p:spPr>
          <a:xfrm>
            <a:off x="9098280" y="2148840"/>
            <a:ext cx="2148840" cy="502920"/>
          </a:xfrm>
          <a:prstGeom prst="roundRect">
            <a:avLst/>
          </a:prstGeom>
          <a:solidFill>
            <a:srgbClr val="0D2234"/>
          </a:solidFill>
          <a:ln w="11000">
            <a:solidFill>
              <a:srgbClr val="2FE6D0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9326880" y="230428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1100" b="1">
                <a:solidFill>
                  <a:srgbClr val="EAF3F8"/>
                </a:solidFill>
                <a:latin typeface="Aptos"/>
                <a:ea typeface="Aptos"/>
              </a:rPr>
              <a:t>Gateway</a:t>
            </a:r>
          </a:p>
        </p:txBody>
      </p:sp>
      <p:sp>
        <p:nvSpPr>
          <p:cNvPr id="101" name="line"/>
          <p:cNvSpPr/>
          <p:nvPr/>
        </p:nvSpPr>
        <p:spPr>
          <a:xfrm>
            <a:off x="10149840" y="2670048"/>
            <a:ext cx="0" cy="393192"/>
          </a:xfrm>
          <a:prstGeom prst="line">
            <a:avLst/>
          </a:prstGeom>
          <a:ln w="16000">
            <a:solidFill>
              <a:srgbClr val="2FE6D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0" name="panel"/>
          <p:cNvSpPr/>
          <p:nvPr/>
        </p:nvSpPr>
        <p:spPr>
          <a:xfrm>
            <a:off x="9098280" y="3063240"/>
            <a:ext cx="2148840" cy="502920"/>
          </a:xfrm>
          <a:prstGeom prst="roundRect">
            <a:avLst/>
          </a:prstGeom>
          <a:solidFill>
            <a:srgbClr val="123049"/>
          </a:solidFill>
          <a:ln w="11000">
            <a:solidFill>
              <a:srgbClr val="FFB35C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9217152" y="3218688"/>
            <a:ext cx="190195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1100" b="1">
                <a:solidFill>
                  <a:srgbClr val="EAF3F8"/>
                </a:solidFill>
                <a:latin typeface="Aptos"/>
                <a:ea typeface="Aptos"/>
              </a:rPr>
              <a:t>aiohttp app</a:t>
            </a:r>
          </a:p>
        </p:txBody>
      </p:sp>
      <p:sp>
        <p:nvSpPr>
          <p:cNvPr id="101" name="line"/>
          <p:cNvSpPr/>
          <p:nvPr/>
        </p:nvSpPr>
        <p:spPr>
          <a:xfrm>
            <a:off x="10149840" y="3584448"/>
            <a:ext cx="0" cy="393191"/>
          </a:xfrm>
          <a:prstGeom prst="line">
            <a:avLst/>
          </a:prstGeom>
          <a:ln w="16000">
            <a:solidFill>
              <a:srgbClr val="FF646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0" name="panel"/>
          <p:cNvSpPr/>
          <p:nvPr/>
        </p:nvSpPr>
        <p:spPr>
          <a:xfrm>
            <a:off x="9098280" y="3977639"/>
            <a:ext cx="2148840" cy="502920"/>
          </a:xfrm>
          <a:prstGeom prst="roundRect">
            <a:avLst/>
          </a:prstGeom>
          <a:solidFill>
            <a:srgbClr val="2B1518"/>
          </a:solidFill>
          <a:ln w="11000">
            <a:solidFill>
              <a:srgbClr val="FF6464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9235440" y="4133087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1100" b="1">
                <a:solidFill>
                  <a:srgbClr val="FF6464"/>
                </a:solidFill>
                <a:latin typeface="Aptos"/>
                <a:ea typeface="Aptos"/>
              </a:rPr>
              <a:t>Sensitive 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1000">
            <a:solidFill>
              <a:srgbClr val="08111F"/>
            </a:solidFill>
          </a:ln>
        </p:spPr>
        <p:txBody>
          <a:bodyPr/>
          <a:lstStyle/>
          <a:p/>
        </p:txBody>
      </p:sp>
      <p:sp>
        <p:nvSpPr>
          <p:cNvPr id="100" name="panel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0A1A2A"/>
          </a:solidFill>
          <a:ln w="11000">
            <a:solidFill>
              <a:srgbClr val="0A1A2A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685800" y="4389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2FE6D0"/>
                </a:solidFill>
                <a:latin typeface="Aptos"/>
                <a:ea typeface="Aptos"/>
              </a:rPr>
              <a:t>SECURITY LAB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85039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FFB35C"/>
                </a:solidFill>
                <a:latin typeface="Aptos"/>
                <a:ea typeface="Aptos"/>
              </a:rPr>
              <a:t>SCOPE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1097280"/>
            <a:ext cx="8366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2500" b="1">
                <a:solidFill>
                  <a:srgbClr val="EAF3F8"/>
                </a:solidFill>
                <a:latin typeface="Microsoft JhengHei"/>
                <a:ea typeface="Microsoft JhengHei"/>
              </a:rPr>
              <a:t>本專案回答：漏洞是什麼、影響多大、如何防禦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6519672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700">
                <a:solidFill>
                  <a:srgbClr val="7893A4"/>
                </a:solidFill>
                <a:latin typeface="Aptos"/>
                <a:ea typeface="Aptos"/>
              </a:rPr>
              <a:t>CVE-2024-23334 | aiohttp Path Traversal</a:t>
            </a:r>
          </a:p>
        </p:txBody>
      </p:sp>
      <p:sp>
        <p:nvSpPr>
          <p:cNvPr id="100" name="panel"/>
          <p:cNvSpPr/>
          <p:nvPr/>
        </p:nvSpPr>
        <p:spPr>
          <a:xfrm>
            <a:off x="822960" y="2148840"/>
            <a:ext cx="3063240" cy="2011680"/>
          </a:xfrm>
          <a:prstGeom prst="roundRect">
            <a:avLst/>
          </a:prstGeom>
          <a:solidFill>
            <a:srgbClr val="101E30"/>
          </a:solidFill>
          <a:ln w="11000">
            <a:solidFill>
              <a:srgbClr val="2FE6D0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1024128" y="239572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2FE6D0"/>
                </a:solidFill>
                <a:latin typeface="Aptos"/>
                <a:ea typeface="Aptos"/>
              </a:rPr>
              <a:t>DEFINITION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1024128" y="276148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800" b="1">
                <a:solidFill>
                  <a:srgbClr val="EAF3F8"/>
                </a:solidFill>
                <a:latin typeface="Microsoft JhengHei"/>
                <a:ea typeface="Microsoft JhengHei"/>
              </a:rPr>
              <a:t>漏洞類型定義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1024128" y="324612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200">
                <a:solidFill>
                  <a:srgbClr val="92A7B3"/>
                </a:solidFill>
                <a:latin typeface="Microsoft JhengHei"/>
                <a:ea typeface="Microsoft JhengHei"/>
              </a:rPr>
              <a:t>Path Traversal 如何讓請求走出預期目錄</a:t>
            </a:r>
          </a:p>
        </p:txBody>
      </p:sp>
      <p:sp>
        <p:nvSpPr>
          <p:cNvPr id="100" name="panel"/>
          <p:cNvSpPr/>
          <p:nvPr/>
        </p:nvSpPr>
        <p:spPr>
          <a:xfrm>
            <a:off x="4526280" y="2148840"/>
            <a:ext cx="3063240" cy="2011680"/>
          </a:xfrm>
          <a:prstGeom prst="roundRect">
            <a:avLst/>
          </a:prstGeom>
          <a:solidFill>
            <a:srgbClr val="10283A"/>
          </a:solidFill>
          <a:ln w="11000">
            <a:solidFill>
              <a:srgbClr val="FFB35C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4727448" y="239572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FFB35C"/>
                </a:solidFill>
                <a:latin typeface="Aptos"/>
                <a:ea typeface="Aptos"/>
              </a:rPr>
              <a:t>IMPACT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4727448" y="276148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800" b="1">
                <a:solidFill>
                  <a:srgbClr val="EAF3F8"/>
                </a:solidFill>
                <a:latin typeface="Microsoft JhengHei"/>
                <a:ea typeface="Microsoft JhengHei"/>
              </a:rPr>
              <a:t>CVE 影響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4727448" y="324612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200">
                <a:solidFill>
                  <a:srgbClr val="92A7B3"/>
                </a:solidFill>
                <a:latin typeface="Microsoft JhengHei"/>
                <a:ea typeface="Microsoft JhengHei"/>
              </a:rPr>
              <a:t>aiohttp 3.9.1 在危險靜態路由下的任意檔案讀取</a:t>
            </a:r>
          </a:p>
        </p:txBody>
      </p:sp>
      <p:sp>
        <p:nvSpPr>
          <p:cNvPr id="100" name="panel"/>
          <p:cNvSpPr/>
          <p:nvPr/>
        </p:nvSpPr>
        <p:spPr>
          <a:xfrm>
            <a:off x="8229600" y="2148840"/>
            <a:ext cx="3063240" cy="2011680"/>
          </a:xfrm>
          <a:prstGeom prst="roundRect">
            <a:avLst/>
          </a:prstGeom>
          <a:solidFill>
            <a:srgbClr val="101E30"/>
          </a:solidFill>
          <a:ln w="11000">
            <a:solidFill>
              <a:srgbClr val="72E28D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8430768" y="239572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72E28D"/>
                </a:solidFill>
                <a:latin typeface="Aptos"/>
                <a:ea typeface="Aptos"/>
              </a:rPr>
              <a:t>DEFENSE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8430768" y="276148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800" b="1">
                <a:solidFill>
                  <a:srgbClr val="EAF3F8"/>
                </a:solidFill>
                <a:latin typeface="Microsoft JhengHei"/>
                <a:ea typeface="Microsoft JhengHei"/>
              </a:rPr>
              <a:t>修補與實務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8430768" y="324612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200">
                <a:solidFill>
                  <a:srgbClr val="92A7B3"/>
                </a:solidFill>
                <a:latin typeface="Microsoft JhengHei"/>
                <a:ea typeface="Microsoft JhengHei"/>
              </a:rPr>
              <a:t>升級、停用危險配置、建立安全開發流程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1000">
            <a:solidFill>
              <a:srgbClr val="08111F"/>
            </a:solidFill>
          </a:ln>
        </p:spPr>
        <p:txBody>
          <a:bodyPr/>
          <a:lstStyle/>
          <a:p/>
        </p:txBody>
      </p:sp>
      <p:sp>
        <p:nvSpPr>
          <p:cNvPr id="100" name="panel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0A1A2A"/>
          </a:solidFill>
          <a:ln w="11000">
            <a:solidFill>
              <a:srgbClr val="0A1A2A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685800" y="4389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2FE6D0"/>
                </a:solidFill>
                <a:latin typeface="Aptos"/>
                <a:ea typeface="Aptos"/>
              </a:rPr>
              <a:t>SECURITY LAB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85039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FFB35C"/>
                </a:solidFill>
                <a:latin typeface="Aptos"/>
                <a:ea typeface="Aptos"/>
              </a:rPr>
              <a:t>CWE-22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1097280"/>
            <a:ext cx="8366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2500" b="1">
                <a:solidFill>
                  <a:srgbClr val="EAF3F8"/>
                </a:solidFill>
                <a:latin typeface="Microsoft JhengHei"/>
                <a:ea typeface="Microsoft JhengHei"/>
              </a:rPr>
              <a:t>Path Traversal 讓攻擊者走出預期目錄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6519672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700">
                <a:solidFill>
                  <a:srgbClr val="7893A4"/>
                </a:solidFill>
                <a:latin typeface="Aptos"/>
                <a:ea typeface="Aptos"/>
              </a:rPr>
              <a:t>CVE-2024-23334 | aiohttp Path Traversal</a:t>
            </a:r>
          </a:p>
        </p:txBody>
      </p:sp>
      <p:sp>
        <p:nvSpPr>
          <p:cNvPr id="103" name="bullets"/>
          <p:cNvSpPr txBox="1"/>
          <p:nvPr/>
        </p:nvSpPr>
        <p:spPr>
          <a:xfrm>
            <a:off x="777240" y="2057400"/>
            <a:ext cx="4937760" cy="2651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171450">
              <a:buChar char="•"/>
            </a:pPr>
            <a:r>
              <a:rPr lang="zh-TW" sz="1500">
                <a:solidFill>
                  <a:srgbClr val="EAF3F8"/>
                </a:solidFill>
                <a:latin typeface="Microsoft JhengHei"/>
                <a:ea typeface="Microsoft JhengHei"/>
              </a:rPr>
              <a:t>外部輸入被用來組合檔案路徑</a:t>
            </a:r>
          </a:p>
          <a:p>
            <a:pPr marL="285750" indent="-171450">
              <a:buChar char="•"/>
            </a:pPr>
            <a:r>
              <a:rPr lang="zh-TW" sz="1500">
                <a:solidFill>
                  <a:srgbClr val="EAF3F8"/>
                </a:solidFill>
                <a:latin typeface="Microsoft JhengHei"/>
                <a:ea typeface="Microsoft JhengHei"/>
              </a:rPr>
              <a:t>伺服器未確認解析後路徑仍在允許根目錄內</a:t>
            </a:r>
          </a:p>
          <a:p>
            <a:pPr marL="285750" indent="-171450">
              <a:buChar char="•"/>
            </a:pPr>
            <a:r>
              <a:rPr lang="zh-TW" sz="1500">
                <a:solidFill>
                  <a:srgbClr val="EAF3F8"/>
                </a:solidFill>
                <a:latin typeface="Microsoft JhengHei"/>
                <a:ea typeface="Microsoft JhengHei"/>
              </a:rPr>
              <a:t>攻擊者可用 ../ 等特殊路徑元素繞過限制</a:t>
            </a:r>
          </a:p>
          <a:p>
            <a:pPr marL="285750" indent="-171450">
              <a:buChar char="•"/>
            </a:pPr>
            <a:r>
              <a:rPr lang="zh-TW" sz="1500">
                <a:solidFill>
                  <a:srgbClr val="EAF3F8"/>
                </a:solidFill>
                <a:latin typeface="Microsoft JhengHei"/>
                <a:ea typeface="Microsoft JhengHei"/>
              </a:rPr>
              <a:t>可能讀取設定檔、金鑰、備份、原始碼或 flag</a:t>
            </a:r>
          </a:p>
        </p:txBody>
      </p:sp>
      <p:sp>
        <p:nvSpPr>
          <p:cNvPr id="100" name="panel"/>
          <p:cNvSpPr/>
          <p:nvPr/>
        </p:nvSpPr>
        <p:spPr>
          <a:xfrm>
            <a:off x="6400800" y="1920240"/>
            <a:ext cx="4800600" cy="3063240"/>
          </a:xfrm>
          <a:prstGeom prst="roundRect">
            <a:avLst/>
          </a:prstGeom>
          <a:solidFill>
            <a:srgbClr val="0C1A28"/>
          </a:solidFill>
          <a:ln w="11000">
            <a:solidFill>
              <a:srgbClr val="244055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6675120" y="2331720"/>
            <a:ext cx="4160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300">
                <a:solidFill>
                  <a:srgbClr val="72E28D"/>
                </a:solidFill>
                <a:latin typeface="Consolas"/>
                <a:ea typeface="Consolas"/>
              </a:rPr>
              <a:t>/static/images/logo.png</a:t>
            </a:r>
          </a:p>
        </p:txBody>
      </p:sp>
      <p:sp>
        <p:nvSpPr>
          <p:cNvPr id="101" name="line"/>
          <p:cNvSpPr/>
          <p:nvPr/>
        </p:nvSpPr>
        <p:spPr>
          <a:xfrm>
            <a:off x="7315200" y="2697480"/>
            <a:ext cx="2331720" cy="0"/>
          </a:xfrm>
          <a:prstGeom prst="line">
            <a:avLst/>
          </a:prstGeom>
          <a:ln w="16000">
            <a:solidFill>
              <a:srgbClr val="72E28D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9784080" y="257860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900">
                <a:solidFill>
                  <a:srgbClr val="72E28D"/>
                </a:solidFill>
                <a:latin typeface="Microsoft JhengHei"/>
                <a:ea typeface="Microsoft JhengHei"/>
              </a:rPr>
              <a:t>合法靜態檔案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675120" y="3474720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200">
                <a:solidFill>
                  <a:srgbClr val="FFB35C"/>
                </a:solidFill>
                <a:latin typeface="Consolas"/>
                <a:ea typeface="Consolas"/>
              </a:rPr>
              <a:t>/assets-library/../config/secret_flag.txt</a:t>
            </a:r>
          </a:p>
        </p:txBody>
      </p:sp>
      <p:sp>
        <p:nvSpPr>
          <p:cNvPr id="101" name="line"/>
          <p:cNvSpPr/>
          <p:nvPr/>
        </p:nvSpPr>
        <p:spPr>
          <a:xfrm>
            <a:off x="7315200" y="3886200"/>
            <a:ext cx="2331720" cy="429767"/>
          </a:xfrm>
          <a:prstGeom prst="line">
            <a:avLst/>
          </a:prstGeom>
          <a:ln w="16000">
            <a:solidFill>
              <a:srgbClr val="FF646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9784080" y="4187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900">
                <a:solidFill>
                  <a:srgbClr val="FF6464"/>
                </a:solidFill>
                <a:latin typeface="Microsoft JhengHei"/>
                <a:ea typeface="Microsoft JhengHei"/>
              </a:rPr>
              <a:t>敏感檔案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1000">
            <a:solidFill>
              <a:srgbClr val="08111F"/>
            </a:solidFill>
          </a:ln>
        </p:spPr>
        <p:txBody>
          <a:bodyPr/>
          <a:lstStyle/>
          <a:p/>
        </p:txBody>
      </p:sp>
      <p:sp>
        <p:nvSpPr>
          <p:cNvPr id="100" name="panel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0A1A2A"/>
          </a:solidFill>
          <a:ln w="11000">
            <a:solidFill>
              <a:srgbClr val="0A1A2A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685800" y="4389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2FE6D0"/>
                </a:solidFill>
                <a:latin typeface="Aptos"/>
                <a:ea typeface="Aptos"/>
              </a:rPr>
              <a:t>SECURITY LAB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85039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FFB35C"/>
                </a:solidFill>
                <a:latin typeface="Aptos"/>
                <a:ea typeface="Aptos"/>
              </a:rPr>
              <a:t>ROOT CAUSE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1097280"/>
            <a:ext cx="8366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2500" b="1">
                <a:solidFill>
                  <a:srgbClr val="EAF3F8"/>
                </a:solidFill>
                <a:latin typeface="Microsoft JhengHei"/>
                <a:ea typeface="Microsoft JhengHei"/>
              </a:rPr>
              <a:t>aiohttp static route 加上 follow_symlinks=True 形成危險邊界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6519672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700">
                <a:solidFill>
                  <a:srgbClr val="7893A4"/>
                </a:solidFill>
                <a:latin typeface="Aptos"/>
                <a:ea typeface="Aptos"/>
              </a:rPr>
              <a:t>CVE-2024-23334 | aiohttp Path Traversal</a:t>
            </a:r>
          </a:p>
        </p:txBody>
      </p:sp>
      <p:sp>
        <p:nvSpPr>
          <p:cNvPr id="100" name="panel"/>
          <p:cNvSpPr/>
          <p:nvPr/>
        </p:nvSpPr>
        <p:spPr>
          <a:xfrm>
            <a:off x="777240" y="2148840"/>
            <a:ext cx="5074920" cy="2148840"/>
          </a:xfrm>
          <a:prstGeom prst="roundRect">
            <a:avLst/>
          </a:prstGeom>
          <a:solidFill>
            <a:srgbClr val="050A12"/>
          </a:solidFill>
          <a:ln w="11000">
            <a:solidFill>
              <a:srgbClr val="2E5163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941832" y="2295144"/>
            <a:ext cx="4745736" cy="18928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500">
                <a:solidFill>
                  <a:srgbClr val="D7FFF8"/>
                </a:solidFill>
                <a:latin typeface="Consolas"/>
                <a:ea typeface="Consolas"/>
              </a:rPr>
              <a:t>app.router.add_static(\n    "/assets-library/",\n    path="./static",\n    follow_symlinks=True\n)</a:t>
            </a:r>
          </a:p>
        </p:txBody>
      </p:sp>
      <p:sp>
        <p:nvSpPr>
          <p:cNvPr id="100" name="panel"/>
          <p:cNvSpPr/>
          <p:nvPr/>
        </p:nvSpPr>
        <p:spPr>
          <a:xfrm>
            <a:off x="6355080" y="2057400"/>
            <a:ext cx="4754880" cy="2560320"/>
          </a:xfrm>
          <a:prstGeom prst="roundRect">
            <a:avLst/>
          </a:prstGeom>
          <a:solidFill>
            <a:srgbClr val="0F2333"/>
          </a:solidFill>
          <a:ln w="11000">
            <a:solidFill>
              <a:srgbClr val="FFB35C"/>
            </a:solidFill>
          </a:ln>
        </p:spPr>
        <p:txBody>
          <a:bodyPr/>
          <a:lstStyle/>
          <a:p/>
        </p:txBody>
      </p:sp>
      <p:sp>
        <p:nvSpPr>
          <p:cNvPr id="103" name="bullets"/>
          <p:cNvSpPr txBox="1"/>
          <p:nvPr/>
        </p:nvSpPr>
        <p:spPr>
          <a:xfrm>
            <a:off x="6629400" y="2331720"/>
            <a:ext cx="416052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171450">
              <a:buChar char="•"/>
            </a:pPr>
            <a:r>
              <a:rPr lang="zh-TW" sz="1200">
                <a:solidFill>
                  <a:srgbClr val="EAF3F8"/>
                </a:solidFill>
                <a:latin typeface="Microsoft JhengHei"/>
                <a:ea typeface="Microsoft JhengHei"/>
              </a:rPr>
              <a:t>aiohttp 是 Python 非同步 HTTP client/server framework</a:t>
            </a:r>
          </a:p>
          <a:p>
            <a:pPr marL="285750" indent="-171450">
              <a:buChar char="•"/>
            </a:pPr>
            <a:r>
              <a:rPr lang="zh-TW" sz="1200">
                <a:solidFill>
                  <a:srgbClr val="EAF3F8"/>
                </a:solidFill>
                <a:latin typeface="Microsoft JhengHei"/>
                <a:ea typeface="Microsoft JhengHei"/>
              </a:rPr>
              <a:t>設定 static routes 時必須指定靜態檔案根目錄</a:t>
            </a:r>
          </a:p>
          <a:p>
            <a:pPr marL="285750" indent="-171450">
              <a:buChar char="•"/>
            </a:pPr>
            <a:r>
              <a:rPr lang="zh-TW" sz="1200">
                <a:solidFill>
                  <a:srgbClr val="EAF3F8"/>
                </a:solidFill>
                <a:latin typeface="Microsoft JhengHei"/>
                <a:ea typeface="Microsoft JhengHei"/>
              </a:rPr>
              <a:t>漏洞版本未正確驗證讀取路徑是否仍在根目錄內</a:t>
            </a:r>
          </a:p>
          <a:p>
            <a:pPr marL="285750" indent="-171450">
              <a:buChar char="•"/>
            </a:pPr>
            <a:r>
              <a:rPr lang="zh-TW" sz="1200">
                <a:solidFill>
                  <a:srgbClr val="EAF3F8"/>
                </a:solidFill>
                <a:latin typeface="Microsoft JhengHei"/>
                <a:ea typeface="Microsoft JhengHei"/>
              </a:rPr>
              <a:t>修補版本：aiohttp 3.9.2+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1000">
            <a:solidFill>
              <a:srgbClr val="08111F"/>
            </a:solidFill>
          </a:ln>
        </p:spPr>
        <p:txBody>
          <a:bodyPr/>
          <a:lstStyle/>
          <a:p/>
        </p:txBody>
      </p:sp>
      <p:sp>
        <p:nvSpPr>
          <p:cNvPr id="100" name="panel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0A1A2A"/>
          </a:solidFill>
          <a:ln w="11000">
            <a:solidFill>
              <a:srgbClr val="0A1A2A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685800" y="4389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2FE6D0"/>
                </a:solidFill>
                <a:latin typeface="Aptos"/>
                <a:ea typeface="Aptos"/>
              </a:rPr>
              <a:t>SECURITY LAB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85039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FFB35C"/>
                </a:solidFill>
                <a:latin typeface="Aptos"/>
                <a:ea typeface="Aptos"/>
              </a:rPr>
              <a:t>IMPACT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1097280"/>
            <a:ext cx="8366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2500" b="1">
                <a:solidFill>
                  <a:srgbClr val="EAF3F8"/>
                </a:solidFill>
                <a:latin typeface="Microsoft JhengHei"/>
                <a:ea typeface="Microsoft JhengHei"/>
              </a:rPr>
              <a:t>攻擊者不需登入即可造成高機密性衝擊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6519672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700">
                <a:solidFill>
                  <a:srgbClr val="7893A4"/>
                </a:solidFill>
                <a:latin typeface="Aptos"/>
                <a:ea typeface="Aptos"/>
              </a:rPr>
              <a:t>CVE-2024-23334 | aiohttp Path Traversal</a:t>
            </a:r>
          </a:p>
        </p:txBody>
      </p:sp>
      <p:sp>
        <p:nvSpPr>
          <p:cNvPr id="100" name="panel"/>
          <p:cNvSpPr/>
          <p:nvPr/>
        </p:nvSpPr>
        <p:spPr>
          <a:xfrm>
            <a:off x="777240" y="2084831"/>
            <a:ext cx="1783080" cy="914400"/>
          </a:xfrm>
          <a:prstGeom prst="roundRect">
            <a:avLst/>
          </a:prstGeom>
          <a:solidFill>
            <a:srgbClr val="0C1B2B"/>
          </a:solidFill>
          <a:ln w="11000">
            <a:solidFill>
              <a:srgbClr val="FFB35C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822960" y="2203703"/>
            <a:ext cx="1691639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2300" b="1">
                <a:solidFill>
                  <a:srgbClr val="FFB35C"/>
                </a:solidFill>
                <a:latin typeface="Aptos Display"/>
                <a:ea typeface="Aptos Display"/>
              </a:rPr>
              <a:t>7.5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850392" y="2615184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900">
                <a:solidFill>
                  <a:srgbClr val="EAF3F8"/>
                </a:solidFill>
                <a:latin typeface="Microsoft JhengHei"/>
                <a:ea typeface="Microsoft JhengHei"/>
              </a:rPr>
              <a:t>NVD CVSS v3.1 HIGH</a:t>
            </a:r>
          </a:p>
        </p:txBody>
      </p:sp>
      <p:sp>
        <p:nvSpPr>
          <p:cNvPr id="100" name="panel"/>
          <p:cNvSpPr/>
          <p:nvPr/>
        </p:nvSpPr>
        <p:spPr>
          <a:xfrm>
            <a:off x="2788920" y="2084831"/>
            <a:ext cx="1783080" cy="914400"/>
          </a:xfrm>
          <a:prstGeom prst="roundRect">
            <a:avLst/>
          </a:prstGeom>
          <a:solidFill>
            <a:srgbClr val="0C1B2B"/>
          </a:solidFill>
          <a:ln w="11000">
            <a:solidFill>
              <a:srgbClr val="2FE6D0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2834639" y="2203703"/>
            <a:ext cx="1691639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2300" b="1">
                <a:solidFill>
                  <a:srgbClr val="2FE6D0"/>
                </a:solidFill>
                <a:latin typeface="Aptos Display"/>
                <a:ea typeface="Aptos Display"/>
              </a:rPr>
              <a:t>AV:N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2862072" y="2615184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900">
                <a:solidFill>
                  <a:srgbClr val="EAF3F8"/>
                </a:solidFill>
                <a:latin typeface="Microsoft JhengHei"/>
                <a:ea typeface="Microsoft JhengHei"/>
              </a:rPr>
              <a:t>Network attack vector</a:t>
            </a:r>
          </a:p>
        </p:txBody>
      </p:sp>
      <p:sp>
        <p:nvSpPr>
          <p:cNvPr id="100" name="panel"/>
          <p:cNvSpPr/>
          <p:nvPr/>
        </p:nvSpPr>
        <p:spPr>
          <a:xfrm>
            <a:off x="4800600" y="2084831"/>
            <a:ext cx="1783080" cy="914400"/>
          </a:xfrm>
          <a:prstGeom prst="roundRect">
            <a:avLst/>
          </a:prstGeom>
          <a:solidFill>
            <a:srgbClr val="0C1B2B"/>
          </a:solidFill>
          <a:ln w="11000">
            <a:solidFill>
              <a:srgbClr val="2FE6D0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4846320" y="2203703"/>
            <a:ext cx="1691639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2300" b="1">
                <a:solidFill>
                  <a:srgbClr val="2FE6D0"/>
                </a:solidFill>
                <a:latin typeface="Aptos Display"/>
                <a:ea typeface="Aptos Display"/>
              </a:rPr>
              <a:t>PR:N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4873752" y="2615184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900">
                <a:solidFill>
                  <a:srgbClr val="EAF3F8"/>
                </a:solidFill>
                <a:latin typeface="Microsoft JhengHei"/>
                <a:ea typeface="Microsoft JhengHei"/>
              </a:rPr>
              <a:t>No privileges required</a:t>
            </a:r>
          </a:p>
        </p:txBody>
      </p:sp>
      <p:sp>
        <p:nvSpPr>
          <p:cNvPr id="100" name="panel"/>
          <p:cNvSpPr/>
          <p:nvPr/>
        </p:nvSpPr>
        <p:spPr>
          <a:xfrm>
            <a:off x="6812280" y="2084831"/>
            <a:ext cx="1783080" cy="914400"/>
          </a:xfrm>
          <a:prstGeom prst="roundRect">
            <a:avLst/>
          </a:prstGeom>
          <a:solidFill>
            <a:srgbClr val="0C1B2B"/>
          </a:solidFill>
          <a:ln w="11000">
            <a:solidFill>
              <a:srgbClr val="2FE6D0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6858000" y="2203703"/>
            <a:ext cx="1691639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2300" b="1">
                <a:solidFill>
                  <a:srgbClr val="2FE6D0"/>
                </a:solidFill>
                <a:latin typeface="Aptos Display"/>
                <a:ea typeface="Aptos Display"/>
              </a:rPr>
              <a:t>UI:N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85432" y="2615184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900">
                <a:solidFill>
                  <a:srgbClr val="EAF3F8"/>
                </a:solidFill>
                <a:latin typeface="Microsoft JhengHei"/>
                <a:ea typeface="Microsoft JhengHei"/>
              </a:rPr>
              <a:t>No user interaction</a:t>
            </a:r>
          </a:p>
        </p:txBody>
      </p:sp>
      <p:sp>
        <p:nvSpPr>
          <p:cNvPr id="100" name="panel"/>
          <p:cNvSpPr/>
          <p:nvPr/>
        </p:nvSpPr>
        <p:spPr>
          <a:xfrm>
            <a:off x="8823960" y="2084831"/>
            <a:ext cx="1783080" cy="914400"/>
          </a:xfrm>
          <a:prstGeom prst="roundRect">
            <a:avLst/>
          </a:prstGeom>
          <a:solidFill>
            <a:srgbClr val="0C1B2B"/>
          </a:solidFill>
          <a:ln w="11000">
            <a:solidFill>
              <a:srgbClr val="FF6464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8869680" y="2203703"/>
            <a:ext cx="1691639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2300" b="1">
                <a:solidFill>
                  <a:srgbClr val="FF6464"/>
                </a:solidFill>
                <a:latin typeface="Aptos Display"/>
                <a:ea typeface="Aptos Display"/>
              </a:rPr>
              <a:t>C:H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8897112" y="2615184"/>
            <a:ext cx="163677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900">
                <a:solidFill>
                  <a:srgbClr val="EAF3F8"/>
                </a:solidFill>
                <a:latin typeface="Microsoft JhengHei"/>
                <a:ea typeface="Microsoft JhengHei"/>
              </a:rPr>
              <a:t>Confidentiality High</a:t>
            </a:r>
          </a:p>
        </p:txBody>
      </p:sp>
      <p:sp>
        <p:nvSpPr>
          <p:cNvPr id="100" name="panel"/>
          <p:cNvSpPr/>
          <p:nvPr/>
        </p:nvSpPr>
        <p:spPr>
          <a:xfrm>
            <a:off x="914400" y="3886200"/>
            <a:ext cx="10195560" cy="1051560"/>
          </a:xfrm>
          <a:prstGeom prst="roundRect">
            <a:avLst/>
          </a:prstGeom>
          <a:solidFill>
            <a:srgbClr val="111F2F"/>
          </a:solidFill>
          <a:ln w="11000">
            <a:solidFill>
              <a:srgbClr val="2A4A5B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1188720" y="4233672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600" b="1">
                <a:solidFill>
                  <a:srgbClr val="EAF3F8"/>
                </a:solidFill>
                <a:latin typeface="Microsoft JhengHei"/>
                <a:ea typeface="Microsoft JhengHei"/>
              </a:rPr>
              <a:t>風險：讀取設定檔、憑據、token、備份提示，並作為後續 RCE 或提權的情報來源。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1000">
            <a:solidFill>
              <a:srgbClr val="08111F"/>
            </a:solidFill>
          </a:ln>
        </p:spPr>
        <p:txBody>
          <a:bodyPr/>
          <a:lstStyle/>
          <a:p/>
        </p:txBody>
      </p:sp>
      <p:sp>
        <p:nvSpPr>
          <p:cNvPr id="100" name="panel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0A1A2A"/>
          </a:solidFill>
          <a:ln w="11000">
            <a:solidFill>
              <a:srgbClr val="0A1A2A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685800" y="4389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2FE6D0"/>
                </a:solidFill>
                <a:latin typeface="Aptos"/>
                <a:ea typeface="Aptos"/>
              </a:rPr>
              <a:t>SECURITY LAB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85039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FFB35C"/>
                </a:solidFill>
                <a:latin typeface="Aptos"/>
                <a:ea typeface="Aptos"/>
              </a:rPr>
              <a:t>ARCHITECTURE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1097280"/>
            <a:ext cx="8366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2500" b="1">
                <a:solidFill>
                  <a:srgbClr val="EAF3F8"/>
                </a:solidFill>
                <a:latin typeface="Microsoft JhengHei"/>
                <a:ea typeface="Microsoft JhengHei"/>
              </a:rPr>
              <a:t>NEO-MALL Lab 模擬多服務企業環境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6519672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700">
                <a:solidFill>
                  <a:srgbClr val="7893A4"/>
                </a:solidFill>
                <a:latin typeface="Aptos"/>
                <a:ea typeface="Aptos"/>
              </a:rPr>
              <a:t>CVE-2024-23334 | aiohttp Path Traversal</a:t>
            </a:r>
          </a:p>
        </p:txBody>
      </p:sp>
      <p:sp>
        <p:nvSpPr>
          <p:cNvPr id="100" name="panel"/>
          <p:cNvSpPr/>
          <p:nvPr/>
        </p:nvSpPr>
        <p:spPr>
          <a:xfrm>
            <a:off x="822960" y="2971800"/>
            <a:ext cx="1737360" cy="658368"/>
          </a:xfrm>
          <a:prstGeom prst="roundRect">
            <a:avLst/>
          </a:prstGeom>
          <a:solidFill>
            <a:srgbClr val="0E2234"/>
          </a:solidFill>
          <a:ln w="11000">
            <a:solidFill>
              <a:srgbClr val="FFB35C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1024128" y="315468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1100" b="1">
                <a:solidFill>
                  <a:srgbClr val="EAF3F8"/>
                </a:solidFill>
                <a:latin typeface="Aptos"/>
                <a:ea typeface="Aptos"/>
              </a:rPr>
              <a:t>Attacker</a:t>
            </a:r>
          </a:p>
        </p:txBody>
      </p:sp>
      <p:sp>
        <p:nvSpPr>
          <p:cNvPr id="101" name="line"/>
          <p:cNvSpPr/>
          <p:nvPr/>
        </p:nvSpPr>
        <p:spPr>
          <a:xfrm>
            <a:off x="2560320" y="3300984"/>
            <a:ext cx="640080" cy="0"/>
          </a:xfrm>
          <a:prstGeom prst="line">
            <a:avLst/>
          </a:prstGeom>
          <a:ln w="16000">
            <a:solidFill>
              <a:srgbClr val="FFB35C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0" name="panel"/>
          <p:cNvSpPr/>
          <p:nvPr/>
        </p:nvSpPr>
        <p:spPr>
          <a:xfrm>
            <a:off x="3200400" y="2971800"/>
            <a:ext cx="1737360" cy="658368"/>
          </a:xfrm>
          <a:prstGeom prst="roundRect">
            <a:avLst/>
          </a:prstGeom>
          <a:solidFill>
            <a:srgbClr val="0E2234"/>
          </a:solidFill>
          <a:ln w="11000">
            <a:solidFill>
              <a:srgbClr val="2FE6D0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3310128" y="3081528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1000" b="1">
                <a:solidFill>
                  <a:srgbClr val="EAF3F8"/>
                </a:solidFill>
                <a:latin typeface="Aptos"/>
                <a:ea typeface="Aptos"/>
              </a:rPr>
              <a:t>nginx-gateway\n:8080</a:t>
            </a:r>
          </a:p>
        </p:txBody>
      </p:sp>
      <p:sp>
        <p:nvSpPr>
          <p:cNvPr id="101" name="line"/>
          <p:cNvSpPr/>
          <p:nvPr/>
        </p:nvSpPr>
        <p:spPr>
          <a:xfrm>
            <a:off x="4937760" y="3154680"/>
            <a:ext cx="685800" cy="-868680"/>
          </a:xfrm>
          <a:prstGeom prst="line">
            <a:avLst/>
          </a:prstGeom>
          <a:ln w="16000">
            <a:solidFill>
              <a:srgbClr val="2FE6D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1" name="line"/>
          <p:cNvSpPr/>
          <p:nvPr/>
        </p:nvSpPr>
        <p:spPr>
          <a:xfrm>
            <a:off x="4937760" y="3291840"/>
            <a:ext cx="685800" cy="228600"/>
          </a:xfrm>
          <a:prstGeom prst="line">
            <a:avLst/>
          </a:prstGeom>
          <a:ln w="16000">
            <a:solidFill>
              <a:srgbClr val="2FE6D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1" name="line"/>
          <p:cNvSpPr/>
          <p:nvPr/>
        </p:nvSpPr>
        <p:spPr>
          <a:xfrm>
            <a:off x="4937760" y="3456432"/>
            <a:ext cx="685800" cy="1252728"/>
          </a:xfrm>
          <a:prstGeom prst="line">
            <a:avLst/>
          </a:prstGeom>
          <a:ln w="16000">
            <a:solidFill>
              <a:srgbClr val="2FE6D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0" name="panel"/>
          <p:cNvSpPr/>
          <p:nvPr/>
        </p:nvSpPr>
        <p:spPr>
          <a:xfrm>
            <a:off x="5623560" y="1965960"/>
            <a:ext cx="1828800" cy="658368"/>
          </a:xfrm>
          <a:prstGeom prst="roundRect">
            <a:avLst/>
          </a:prstGeom>
          <a:solidFill>
            <a:srgbClr val="2B1518"/>
          </a:solidFill>
          <a:ln w="11000">
            <a:solidFill>
              <a:srgbClr val="FF6464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5715000" y="2084831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1000" b="1">
                <a:solidFill>
                  <a:srgbClr val="EAF3F8"/>
                </a:solidFill>
                <a:latin typeface="Aptos"/>
                <a:ea typeface="Aptos"/>
              </a:rPr>
              <a:t>neo-mall aiohttp\n:8081</a:t>
            </a:r>
          </a:p>
        </p:txBody>
      </p:sp>
      <p:sp>
        <p:nvSpPr>
          <p:cNvPr id="100" name="panel"/>
          <p:cNvSpPr/>
          <p:nvPr/>
        </p:nvSpPr>
        <p:spPr>
          <a:xfrm>
            <a:off x="5623560" y="3246120"/>
            <a:ext cx="1828800" cy="658368"/>
          </a:xfrm>
          <a:prstGeom prst="roundRect">
            <a:avLst/>
          </a:prstGeom>
          <a:solidFill>
            <a:srgbClr val="0E2234"/>
          </a:solidFill>
          <a:ln w="11000">
            <a:solidFill>
              <a:srgbClr val="4BA3FF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5742432" y="3447288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1000" b="1">
                <a:solidFill>
                  <a:srgbClr val="EAF3F8"/>
                </a:solidFill>
                <a:latin typeface="Aptos"/>
                <a:ea typeface="Aptos"/>
              </a:rPr>
              <a:t>neo-status</a:t>
            </a:r>
          </a:p>
        </p:txBody>
      </p:sp>
      <p:sp>
        <p:nvSpPr>
          <p:cNvPr id="100" name="panel"/>
          <p:cNvSpPr/>
          <p:nvPr/>
        </p:nvSpPr>
        <p:spPr>
          <a:xfrm>
            <a:off x="5623560" y="4434840"/>
            <a:ext cx="1828800" cy="658368"/>
          </a:xfrm>
          <a:prstGeom prst="roundRect">
            <a:avLst/>
          </a:prstGeom>
          <a:solidFill>
            <a:srgbClr val="0E2234"/>
          </a:solidFill>
          <a:ln w="11000">
            <a:solidFill>
              <a:srgbClr val="4BA3FF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5742432" y="4636008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1000" b="1">
                <a:solidFill>
                  <a:srgbClr val="EAF3F8"/>
                </a:solidFill>
                <a:latin typeface="Aptos"/>
                <a:ea typeface="Aptos"/>
              </a:rPr>
              <a:t>neo-dev</a:t>
            </a:r>
          </a:p>
        </p:txBody>
      </p:sp>
      <p:sp>
        <p:nvSpPr>
          <p:cNvPr id="100" name="panel"/>
          <p:cNvSpPr/>
          <p:nvPr/>
        </p:nvSpPr>
        <p:spPr>
          <a:xfrm>
            <a:off x="8366760" y="4434840"/>
            <a:ext cx="1600200" cy="658368"/>
          </a:xfrm>
          <a:prstGeom prst="roundRect">
            <a:avLst/>
          </a:prstGeom>
          <a:solidFill>
            <a:srgbClr val="0E2234"/>
          </a:solidFill>
          <a:ln w="11000">
            <a:solidFill>
              <a:srgbClr val="72E28D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8458200" y="4553712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1000" b="1">
                <a:solidFill>
                  <a:srgbClr val="EAF3F8"/>
                </a:solidFill>
                <a:latin typeface="Aptos"/>
                <a:ea typeface="Aptos"/>
              </a:rPr>
              <a:t>neo-ftp\n:21</a:t>
            </a:r>
          </a:p>
        </p:txBody>
      </p:sp>
      <p:sp>
        <p:nvSpPr>
          <p:cNvPr id="100" name="panel"/>
          <p:cNvSpPr/>
          <p:nvPr/>
        </p:nvSpPr>
        <p:spPr>
          <a:xfrm>
            <a:off x="8823960" y="1965960"/>
            <a:ext cx="2057400" cy="658368"/>
          </a:xfrm>
          <a:prstGeom prst="roundRect">
            <a:avLst/>
          </a:prstGeom>
          <a:solidFill>
            <a:srgbClr val="2B1518"/>
          </a:solidFill>
          <a:ln w="11000">
            <a:solidFill>
              <a:srgbClr val="FF6464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8979408" y="2167128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1000" b="1">
                <a:solidFill>
                  <a:srgbClr val="FF6464"/>
                </a:solidFill>
                <a:latin typeface="Aptos"/>
                <a:ea typeface="Aptos"/>
              </a:rPr>
              <a:t>secret files</a:t>
            </a:r>
          </a:p>
        </p:txBody>
      </p:sp>
      <p:sp>
        <p:nvSpPr>
          <p:cNvPr id="101" name="line"/>
          <p:cNvSpPr/>
          <p:nvPr/>
        </p:nvSpPr>
        <p:spPr>
          <a:xfrm>
            <a:off x="7452360" y="2286000"/>
            <a:ext cx="1371600" cy="0"/>
          </a:xfrm>
          <a:prstGeom prst="line">
            <a:avLst/>
          </a:prstGeom>
          <a:ln w="16000">
            <a:solidFill>
              <a:srgbClr val="FF646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868680" y="5440680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400" b="1">
                <a:solidFill>
                  <a:srgbClr val="FFB35C"/>
                </a:solidFill>
                <a:latin typeface="Microsoft JhengHei"/>
                <a:ea typeface="Microsoft JhengHei"/>
              </a:rPr>
              <a:t>核心漏洞點：/assets-library/ 靜態路由啟用 follow_symlinks=True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1000">
            <a:solidFill>
              <a:srgbClr val="08111F"/>
            </a:solidFill>
          </a:ln>
        </p:spPr>
        <p:txBody>
          <a:bodyPr/>
          <a:lstStyle/>
          <a:p/>
        </p:txBody>
      </p:sp>
      <p:sp>
        <p:nvSpPr>
          <p:cNvPr id="100" name="panel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0A1A2A"/>
          </a:solidFill>
          <a:ln w="11000">
            <a:solidFill>
              <a:srgbClr val="0A1A2A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685800" y="4389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2FE6D0"/>
                </a:solidFill>
                <a:latin typeface="Aptos"/>
                <a:ea typeface="Aptos"/>
              </a:rPr>
              <a:t>SECURITY LAB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85039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FFB35C"/>
                </a:solidFill>
                <a:latin typeface="Aptos"/>
                <a:ea typeface="Aptos"/>
              </a:rPr>
              <a:t>ATTACK CHAIN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1097280"/>
            <a:ext cx="8366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2500" b="1">
                <a:solidFill>
                  <a:srgbClr val="EAF3F8"/>
                </a:solidFill>
                <a:latin typeface="Microsoft JhengHei"/>
                <a:ea typeface="Microsoft JhengHei"/>
              </a:rPr>
              <a:t>從低權限資訊收集串到核心 CVE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6519672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700">
                <a:solidFill>
                  <a:srgbClr val="7893A4"/>
                </a:solidFill>
                <a:latin typeface="Aptos"/>
                <a:ea typeface="Aptos"/>
              </a:rPr>
              <a:t>CVE-2024-23334 | aiohttp Path Traversal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777240" y="2331720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700" b="1">
                <a:solidFill>
                  <a:srgbClr val="EAF3F8"/>
                </a:solidFill>
                <a:latin typeface="Microsoft JhengHei"/>
                <a:ea typeface="Microsoft JhengHei"/>
              </a:rPr>
              <a:t>1  BOLA 隱藏產品  →  2  弱口令 guest  →  3  SSTI {{7*7}}  →  4  憑據外洩 neo_vendor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777240" y="3063240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700" b="1">
                <a:solidFill>
                  <a:srgbClr val="EAF3F8"/>
                </a:solidFill>
                <a:latin typeface="Microsoft JhengHei"/>
                <a:ea typeface="Microsoft JhengHei"/>
              </a:rPr>
              <a:t>5  上傳洩漏絕對路徑  →  6  FTP 備份 flag 位置  →  7  CVE-2024-23334 讀 secret_flag</a:t>
            </a:r>
          </a:p>
        </p:txBody>
      </p:sp>
      <p:sp>
        <p:nvSpPr>
          <p:cNvPr id="100" name="panel"/>
          <p:cNvSpPr/>
          <p:nvPr/>
        </p:nvSpPr>
        <p:spPr>
          <a:xfrm>
            <a:off x="914400" y="4663440"/>
            <a:ext cx="10058400" cy="685800"/>
          </a:xfrm>
          <a:prstGeom prst="roundRect">
            <a:avLst/>
          </a:prstGeom>
          <a:solidFill>
            <a:srgbClr val="0C1A28"/>
          </a:solidFill>
          <a:ln w="11000">
            <a:solidFill>
              <a:srgbClr val="244055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1170432" y="4910328"/>
            <a:ext cx="9555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300" b="1">
                <a:solidFill>
                  <a:srgbClr val="2FE6D0"/>
                </a:solidFill>
                <a:latin typeface="Microsoft JhengHei"/>
                <a:ea typeface="Microsoft JhengHei"/>
              </a:rPr>
              <a:t>展示重點：單一 CVE 的直接效果是任意檔案讀取，但攻擊鏈會利用外洩資訊繼續擴大影響。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1000">
            <a:solidFill>
              <a:srgbClr val="08111F"/>
            </a:solidFill>
          </a:ln>
        </p:spPr>
        <p:txBody>
          <a:bodyPr/>
          <a:lstStyle/>
          <a:p/>
        </p:txBody>
      </p:sp>
      <p:sp>
        <p:nvSpPr>
          <p:cNvPr id="100" name="panel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0A1A2A"/>
          </a:solidFill>
          <a:ln w="11000">
            <a:solidFill>
              <a:srgbClr val="0A1A2A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685800" y="4389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2FE6D0"/>
                </a:solidFill>
                <a:latin typeface="Aptos"/>
                <a:ea typeface="Aptos"/>
              </a:rPr>
              <a:t>SECURITY LAB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85039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FFB35C"/>
                </a:solidFill>
                <a:latin typeface="Aptos"/>
                <a:ea typeface="Aptos"/>
              </a:rPr>
              <a:t>EXPLOIT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1097280"/>
            <a:ext cx="8366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2500" b="1">
                <a:solidFill>
                  <a:srgbClr val="EAF3F8"/>
                </a:solidFill>
                <a:latin typeface="Microsoft JhengHei"/>
                <a:ea typeface="Microsoft JhengHei"/>
              </a:rPr>
              <a:t>--path-as-is 保留惡意路徑並直打 aiohttp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6519672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700">
                <a:solidFill>
                  <a:srgbClr val="7893A4"/>
                </a:solidFill>
                <a:latin typeface="Aptos"/>
                <a:ea typeface="Aptos"/>
              </a:rPr>
              <a:t>CVE-2024-23334 | aiohttp Path Traversal</a:t>
            </a:r>
          </a:p>
        </p:txBody>
      </p:sp>
      <p:sp>
        <p:nvSpPr>
          <p:cNvPr id="100" name="panel"/>
          <p:cNvSpPr/>
          <p:nvPr/>
        </p:nvSpPr>
        <p:spPr>
          <a:xfrm>
            <a:off x="777240" y="2057400"/>
            <a:ext cx="5897880" cy="1207008"/>
          </a:xfrm>
          <a:prstGeom prst="roundRect">
            <a:avLst/>
          </a:prstGeom>
          <a:solidFill>
            <a:srgbClr val="050A12"/>
          </a:solidFill>
          <a:ln w="11000">
            <a:solidFill>
              <a:srgbClr val="2E5163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941832" y="2203704"/>
            <a:ext cx="5568696" cy="9509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300">
                <a:solidFill>
                  <a:srgbClr val="D7FFF8"/>
                </a:solidFill>
                <a:latin typeface="Consolas"/>
                <a:ea typeface="Consolas"/>
              </a:rPr>
              <a:t>curl --path-as-is \\\n  http://localhost:8081/assets-library/../config/secret_flag.txt</a:t>
            </a:r>
          </a:p>
        </p:txBody>
      </p:sp>
      <p:sp>
        <p:nvSpPr>
          <p:cNvPr id="100" name="panel"/>
          <p:cNvSpPr/>
          <p:nvPr/>
        </p:nvSpPr>
        <p:spPr>
          <a:xfrm>
            <a:off x="7452360" y="1874519"/>
            <a:ext cx="3063240" cy="3246120"/>
          </a:xfrm>
          <a:prstGeom prst="roundRect">
            <a:avLst/>
          </a:prstGeom>
          <a:solidFill>
            <a:srgbClr val="0E2234"/>
          </a:solidFill>
          <a:ln w="11000">
            <a:solidFill>
              <a:srgbClr val="FF6464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7818120" y="228600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300">
                <a:solidFill>
                  <a:srgbClr val="2FE6D0"/>
                </a:solidFill>
                <a:latin typeface="Consolas"/>
                <a:ea typeface="Consolas"/>
              </a:rPr>
              <a:t>static/</a:t>
            </a:r>
          </a:p>
        </p:txBody>
      </p:sp>
      <p:sp>
        <p:nvSpPr>
          <p:cNvPr id="101" name="line"/>
          <p:cNvSpPr/>
          <p:nvPr/>
        </p:nvSpPr>
        <p:spPr>
          <a:xfrm>
            <a:off x="8321040" y="2633472"/>
            <a:ext cx="685800" cy="530352"/>
          </a:xfrm>
          <a:prstGeom prst="line">
            <a:avLst/>
          </a:prstGeom>
          <a:ln w="16000">
            <a:solidFill>
              <a:srgbClr val="FFB35C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8641080" y="27614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300">
                <a:solidFill>
                  <a:srgbClr val="FFB35C"/>
                </a:solidFill>
                <a:latin typeface="Consolas"/>
                <a:ea typeface="Consolas"/>
              </a:rPr>
              <a:t>../../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8823960" y="3401568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100">
                <a:solidFill>
                  <a:srgbClr val="FF6464"/>
                </a:solidFill>
                <a:latin typeface="Consolas"/>
                <a:ea typeface="Consolas"/>
              </a:rPr>
              <a:t>config/\nsecret_flag.txt</a:t>
            </a:r>
          </a:p>
        </p:txBody>
      </p:sp>
      <p:sp>
        <p:nvSpPr>
          <p:cNvPr id="103" name="bullets"/>
          <p:cNvSpPr txBox="1"/>
          <p:nvPr/>
        </p:nvSpPr>
        <p:spPr>
          <a:xfrm>
            <a:off x="868680" y="3794760"/>
            <a:ext cx="5760720" cy="1280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171450">
              <a:buChar char="•"/>
            </a:pPr>
            <a:r>
              <a:rPr lang="zh-TW" sz="1300">
                <a:solidFill>
                  <a:srgbClr val="EAF3F8"/>
                </a:solidFill>
                <a:latin typeface="Microsoft JhengHei"/>
                <a:ea typeface="Microsoft JhengHei"/>
              </a:rPr>
              <a:t>assets-library 是 vulnerable aiohttp static route</a:t>
            </a:r>
          </a:p>
          <a:p>
            <a:pPr marL="285750" indent="-171450">
              <a:buChar char="•"/>
            </a:pPr>
            <a:r>
              <a:rPr lang="zh-TW" sz="1300">
                <a:solidFill>
                  <a:srgbClr val="EAF3F8"/>
                </a:solidFill>
                <a:latin typeface="Microsoft JhengHei"/>
                <a:ea typeface="Microsoft JhengHei"/>
              </a:rPr>
              <a:t>直連 :8081 避開 gateway 對 URI 的規範化處理</a:t>
            </a:r>
          </a:p>
          <a:p>
            <a:pPr marL="285750" indent="-171450">
              <a:buChar char="•"/>
            </a:pPr>
            <a:r>
              <a:rPr lang="zh-TW" sz="1300">
                <a:solidFill>
                  <a:srgbClr val="EAF3F8"/>
                </a:solidFill>
                <a:latin typeface="Microsoft JhengHei"/>
                <a:ea typeface="Microsoft JhengHei"/>
              </a:rPr>
              <a:t>成功讀取 FLAG{cve_2024_23334_path_traversal_mastered}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1000">
            <a:solidFill>
              <a:srgbClr val="08111F"/>
            </a:solidFill>
          </a:ln>
        </p:spPr>
        <p:txBody>
          <a:bodyPr/>
          <a:lstStyle/>
          <a:p/>
        </p:txBody>
      </p:sp>
      <p:sp>
        <p:nvSpPr>
          <p:cNvPr id="100" name="panel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0A1A2A"/>
          </a:solidFill>
          <a:ln w="11000">
            <a:solidFill>
              <a:srgbClr val="0A1A2A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685800" y="4389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2FE6D0"/>
                </a:solidFill>
                <a:latin typeface="Aptos"/>
                <a:ea typeface="Aptos"/>
              </a:rPr>
              <a:t>SECURITY LAB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85039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FFB35C"/>
                </a:solidFill>
                <a:latin typeface="Aptos"/>
                <a:ea typeface="Aptos"/>
              </a:rPr>
              <a:t>RISK AMPLIFIER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1097280"/>
            <a:ext cx="8366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2500" b="1">
                <a:solidFill>
                  <a:srgbClr val="EAF3F8"/>
                </a:solidFill>
                <a:latin typeface="Microsoft JhengHei"/>
                <a:ea typeface="Microsoft JhengHei"/>
              </a:rPr>
              <a:t>任意檔案讀取常是攻擊鏈的情報入口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6519672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700">
                <a:solidFill>
                  <a:srgbClr val="7893A4"/>
                </a:solidFill>
                <a:latin typeface="Aptos"/>
                <a:ea typeface="Aptos"/>
              </a:rPr>
              <a:t>CVE-2024-23334 | aiohttp Path Traversal</a:t>
            </a:r>
          </a:p>
        </p:txBody>
      </p:sp>
      <p:sp>
        <p:nvSpPr>
          <p:cNvPr id="100" name="panel"/>
          <p:cNvSpPr/>
          <p:nvPr/>
        </p:nvSpPr>
        <p:spPr>
          <a:xfrm>
            <a:off x="4736592" y="2962656"/>
            <a:ext cx="2697480" cy="841248"/>
          </a:xfrm>
          <a:prstGeom prst="roundRect">
            <a:avLst/>
          </a:prstGeom>
          <a:solidFill>
            <a:srgbClr val="142B3B"/>
          </a:solidFill>
          <a:ln w="11000">
            <a:solidFill>
              <a:srgbClr val="2FE6D0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4892040" y="317296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1200" b="1">
                <a:solidFill>
                  <a:srgbClr val="2FE6D0"/>
                </a:solidFill>
                <a:latin typeface="Aptos"/>
                <a:ea typeface="Aptos"/>
              </a:rPr>
              <a:t>CVE-2024-23334</a:t>
            </a:r>
          </a:p>
        </p:txBody>
      </p:sp>
      <p:sp>
        <p:nvSpPr>
          <p:cNvPr id="100" name="panel"/>
          <p:cNvSpPr/>
          <p:nvPr/>
        </p:nvSpPr>
        <p:spPr>
          <a:xfrm>
            <a:off x="1463040" y="2057400"/>
            <a:ext cx="2514600" cy="822960"/>
          </a:xfrm>
          <a:prstGeom prst="roundRect">
            <a:avLst/>
          </a:prstGeom>
          <a:solidFill>
            <a:srgbClr val="0E2234"/>
          </a:solidFill>
          <a:ln w="11000">
            <a:solidFill>
              <a:srgbClr val="FFB35C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1627632" y="2212848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200" b="1">
                <a:solidFill>
                  <a:srgbClr val="FFB35C"/>
                </a:solidFill>
                <a:latin typeface="Aptos"/>
                <a:ea typeface="Aptos"/>
              </a:rPr>
              <a:t>SSTI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1627632" y="251460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900">
                <a:solidFill>
                  <a:srgbClr val="EAF3F8"/>
                </a:solidFill>
                <a:latin typeface="Microsoft JhengHei"/>
                <a:ea typeface="Microsoft JhengHei"/>
              </a:rPr>
              <a:t>外洩賣家憑據</a:t>
            </a:r>
          </a:p>
        </p:txBody>
      </p:sp>
      <p:sp>
        <p:nvSpPr>
          <p:cNvPr id="100" name="panel"/>
          <p:cNvSpPr/>
          <p:nvPr/>
        </p:nvSpPr>
        <p:spPr>
          <a:xfrm>
            <a:off x="8046720" y="2057400"/>
            <a:ext cx="2514600" cy="822960"/>
          </a:xfrm>
          <a:prstGeom prst="roundRect">
            <a:avLst/>
          </a:prstGeom>
          <a:solidFill>
            <a:srgbClr val="0E2234"/>
          </a:solidFill>
          <a:ln w="11000">
            <a:solidFill>
              <a:srgbClr val="72E28D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8211312" y="2212848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200" b="1">
                <a:solidFill>
                  <a:srgbClr val="72E28D"/>
                </a:solidFill>
                <a:latin typeface="Aptos"/>
                <a:ea typeface="Aptos"/>
              </a:rPr>
              <a:t>FTP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8211312" y="251460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900">
                <a:solidFill>
                  <a:srgbClr val="EAF3F8"/>
                </a:solidFill>
                <a:latin typeface="Microsoft JhengHei"/>
                <a:ea typeface="Microsoft JhengHei"/>
              </a:rPr>
              <a:t>部署提示與檔案位置</a:t>
            </a:r>
          </a:p>
        </p:txBody>
      </p:sp>
      <p:sp>
        <p:nvSpPr>
          <p:cNvPr id="100" name="panel"/>
          <p:cNvSpPr/>
          <p:nvPr/>
        </p:nvSpPr>
        <p:spPr>
          <a:xfrm>
            <a:off x="1463040" y="4160520"/>
            <a:ext cx="2514600" cy="822960"/>
          </a:xfrm>
          <a:prstGeom prst="roundRect">
            <a:avLst/>
          </a:prstGeom>
          <a:solidFill>
            <a:srgbClr val="0E2234"/>
          </a:solidFill>
          <a:ln w="11000">
            <a:solidFill>
              <a:srgbClr val="FF6464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1627632" y="4315968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200" b="1">
                <a:solidFill>
                  <a:srgbClr val="FF6464"/>
                </a:solidFill>
                <a:latin typeface="Aptos"/>
                <a:ea typeface="Aptos"/>
              </a:rPr>
              <a:t>Command Injection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1627632" y="461772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900">
                <a:solidFill>
                  <a:srgbClr val="EAF3F8"/>
                </a:solidFill>
                <a:latin typeface="Microsoft JhengHei"/>
                <a:ea typeface="Microsoft JhengHei"/>
              </a:rPr>
              <a:t>賣家診斷工具可執行 shell</a:t>
            </a:r>
          </a:p>
        </p:txBody>
      </p:sp>
      <p:sp>
        <p:nvSpPr>
          <p:cNvPr id="100" name="panel"/>
          <p:cNvSpPr/>
          <p:nvPr/>
        </p:nvSpPr>
        <p:spPr>
          <a:xfrm>
            <a:off x="8046720" y="4160520"/>
            <a:ext cx="2514600" cy="822960"/>
          </a:xfrm>
          <a:prstGeom prst="roundRect">
            <a:avLst/>
          </a:prstGeom>
          <a:solidFill>
            <a:srgbClr val="0E2234"/>
          </a:solidFill>
          <a:ln w="11000">
            <a:solidFill>
              <a:srgbClr val="FF6464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8211312" y="4315968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200" b="1">
                <a:solidFill>
                  <a:srgbClr val="FF6464"/>
                </a:solidFill>
                <a:latin typeface="Aptos"/>
                <a:ea typeface="Aptos"/>
              </a:rPr>
              <a:t>Lua RCE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8211312" y="461772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900">
                <a:solidFill>
                  <a:srgbClr val="EAF3F8"/>
                </a:solidFill>
                <a:latin typeface="Microsoft JhengHei"/>
                <a:ea typeface="Microsoft JhengHei"/>
              </a:rPr>
              <a:t>Gateway debug header loadstring()</a:t>
            </a:r>
          </a:p>
        </p:txBody>
      </p:sp>
      <p:sp>
        <p:nvSpPr>
          <p:cNvPr id="101" name="line"/>
          <p:cNvSpPr/>
          <p:nvPr/>
        </p:nvSpPr>
        <p:spPr>
          <a:xfrm>
            <a:off x="3977639" y="2468880"/>
            <a:ext cx="758952" cy="777239"/>
          </a:xfrm>
          <a:prstGeom prst="line">
            <a:avLst/>
          </a:prstGeom>
          <a:ln w="16000">
            <a:solidFill>
              <a:srgbClr val="FFB35C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1" name="line"/>
          <p:cNvSpPr/>
          <p:nvPr/>
        </p:nvSpPr>
        <p:spPr>
          <a:xfrm>
            <a:off x="8046720" y="2468880"/>
            <a:ext cx="-612647" cy="777239"/>
          </a:xfrm>
          <a:prstGeom prst="line">
            <a:avLst/>
          </a:prstGeom>
          <a:ln w="16000">
            <a:solidFill>
              <a:srgbClr val="72E28D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1" name="line"/>
          <p:cNvSpPr/>
          <p:nvPr/>
        </p:nvSpPr>
        <p:spPr>
          <a:xfrm>
            <a:off x="3977639" y="4572000"/>
            <a:ext cx="758952" cy="-1005840"/>
          </a:xfrm>
          <a:prstGeom prst="line">
            <a:avLst/>
          </a:prstGeom>
          <a:ln w="16000">
            <a:solidFill>
              <a:srgbClr val="FF646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1" name="line"/>
          <p:cNvSpPr/>
          <p:nvPr/>
        </p:nvSpPr>
        <p:spPr>
          <a:xfrm>
            <a:off x="8046720" y="4572000"/>
            <a:ext cx="-612647" cy="-1005840"/>
          </a:xfrm>
          <a:prstGeom prst="line">
            <a:avLst/>
          </a:prstGeom>
          <a:ln w="16000">
            <a:solidFill>
              <a:srgbClr val="FF6464"/>
            </a:solidFill>
            <a:tailEnd type="triangle"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1000">
            <a:solidFill>
              <a:srgbClr val="08111F"/>
            </a:solidFill>
          </a:ln>
        </p:spPr>
        <p:txBody>
          <a:bodyPr/>
          <a:lstStyle/>
          <a:p/>
        </p:txBody>
      </p:sp>
      <p:sp>
        <p:nvSpPr>
          <p:cNvPr id="100" name="panel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0A1A2A"/>
          </a:solidFill>
          <a:ln w="11000">
            <a:solidFill>
              <a:srgbClr val="0A1A2A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685800" y="4389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2FE6D0"/>
                </a:solidFill>
                <a:latin typeface="Aptos"/>
                <a:ea typeface="Aptos"/>
              </a:rPr>
              <a:t>SECURITY LAB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85039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FFB35C"/>
                </a:solidFill>
                <a:latin typeface="Aptos"/>
                <a:ea typeface="Aptos"/>
              </a:rPr>
              <a:t>REMEDIATION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1097280"/>
            <a:ext cx="8366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2500" b="1">
                <a:solidFill>
                  <a:srgbClr val="EAF3F8"/>
                </a:solidFill>
                <a:latin typeface="Microsoft JhengHei"/>
                <a:ea typeface="Microsoft JhengHei"/>
              </a:rPr>
              <a:t>修補不只升級版本，也要移除危險配置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6519672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700">
                <a:solidFill>
                  <a:srgbClr val="7893A4"/>
                </a:solidFill>
                <a:latin typeface="Aptos"/>
                <a:ea typeface="Aptos"/>
              </a:rPr>
              <a:t>CVE-2024-23334 | aiohttp Path Traversal</a:t>
            </a:r>
          </a:p>
        </p:txBody>
      </p:sp>
      <p:sp>
        <p:nvSpPr>
          <p:cNvPr id="100" name="panel"/>
          <p:cNvSpPr/>
          <p:nvPr/>
        </p:nvSpPr>
        <p:spPr>
          <a:xfrm>
            <a:off x="713232" y="1993392"/>
            <a:ext cx="5230368" cy="3474720"/>
          </a:xfrm>
          <a:prstGeom prst="roundRect">
            <a:avLst/>
          </a:prstGeom>
          <a:solidFill>
            <a:srgbClr val="0D2131"/>
          </a:solidFill>
          <a:ln w="11000">
            <a:solidFill>
              <a:srgbClr val="72E28D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960120" y="228600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72E28D"/>
                </a:solidFill>
                <a:latin typeface="Aptos"/>
                <a:ea typeface="Aptos"/>
              </a:rPr>
              <a:t>MUST FIX</a:t>
            </a:r>
          </a:p>
        </p:txBody>
      </p:sp>
      <p:sp>
        <p:nvSpPr>
          <p:cNvPr id="103" name="bullets"/>
          <p:cNvSpPr txBox="1"/>
          <p:nvPr/>
        </p:nvSpPr>
        <p:spPr>
          <a:xfrm>
            <a:off x="1005840" y="2679192"/>
            <a:ext cx="4434840" cy="228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171450">
              <a:buChar char="•"/>
            </a:pPr>
            <a:r>
              <a:rPr lang="zh-TW" sz="1200">
                <a:solidFill>
                  <a:srgbClr val="EAF3F8"/>
                </a:solidFill>
                <a:latin typeface="Microsoft JhengHei"/>
                <a:ea typeface="Microsoft JhengHei"/>
              </a:rPr>
              <a:t>升級 aiohttp 至 3.9.2 或更新版本</a:t>
            </a:r>
          </a:p>
          <a:p>
            <a:pPr marL="285750" indent="-171450">
              <a:buChar char="•"/>
            </a:pPr>
            <a:r>
              <a:rPr lang="zh-TW" sz="1200">
                <a:solidFill>
                  <a:srgbClr val="EAF3F8"/>
                </a:solidFill>
                <a:latin typeface="Microsoft JhengHei"/>
                <a:ea typeface="Microsoft JhengHei"/>
              </a:rPr>
              <a:t>停用 follow_symlinks=True</a:t>
            </a:r>
          </a:p>
          <a:p>
            <a:pPr marL="285750" indent="-171450">
              <a:buChar char="•"/>
            </a:pPr>
            <a:r>
              <a:rPr lang="zh-TW" sz="1200">
                <a:solidFill>
                  <a:srgbClr val="EAF3F8"/>
                </a:solidFill>
                <a:latin typeface="Microsoft JhengHei"/>
                <a:ea typeface="Microsoft JhengHei"/>
              </a:rPr>
              <a:t>靜態資源交給 Nginx 等 reverse proxy</a:t>
            </a:r>
          </a:p>
          <a:p>
            <a:pPr marL="285750" indent="-171450">
              <a:buChar char="•"/>
            </a:pPr>
            <a:r>
              <a:rPr lang="zh-TW" sz="1200">
                <a:solidFill>
                  <a:srgbClr val="EAF3F8"/>
                </a:solidFill>
                <a:latin typeface="Microsoft JhengHei"/>
                <a:ea typeface="Microsoft JhengHei"/>
              </a:rPr>
              <a:t>解析後檢查 realpath 是否仍在允許根目錄</a:t>
            </a:r>
          </a:p>
        </p:txBody>
      </p:sp>
      <p:sp>
        <p:nvSpPr>
          <p:cNvPr id="100" name="panel"/>
          <p:cNvSpPr/>
          <p:nvPr/>
        </p:nvSpPr>
        <p:spPr>
          <a:xfrm>
            <a:off x="6263640" y="1993392"/>
            <a:ext cx="5230368" cy="3474720"/>
          </a:xfrm>
          <a:prstGeom prst="roundRect">
            <a:avLst/>
          </a:prstGeom>
          <a:solidFill>
            <a:srgbClr val="0D2131"/>
          </a:solidFill>
          <a:ln w="11000">
            <a:solidFill>
              <a:srgbClr val="2FE6D0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6510528" y="228600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2FE6D0"/>
                </a:solidFill>
                <a:latin typeface="Aptos"/>
                <a:ea typeface="Aptos"/>
              </a:rPr>
              <a:t>PREVENT</a:t>
            </a:r>
          </a:p>
        </p:txBody>
      </p:sp>
      <p:sp>
        <p:nvSpPr>
          <p:cNvPr id="103" name="bullets"/>
          <p:cNvSpPr txBox="1"/>
          <p:nvPr/>
        </p:nvSpPr>
        <p:spPr>
          <a:xfrm>
            <a:off x="6565392" y="2679192"/>
            <a:ext cx="4434840" cy="228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171450">
              <a:buChar char="•"/>
            </a:pPr>
            <a:r>
              <a:rPr lang="zh-TW" sz="1200">
                <a:solidFill>
                  <a:srgbClr val="EAF3F8"/>
                </a:solidFill>
                <a:latin typeface="Microsoft JhengHei"/>
                <a:ea typeface="Microsoft JhengHei"/>
              </a:rPr>
              <a:t>避免將後端服務直接暴露在外部網路</a:t>
            </a:r>
          </a:p>
          <a:p>
            <a:pPr marL="285750" indent="-171450">
              <a:buChar char="•"/>
            </a:pPr>
            <a:r>
              <a:rPr lang="zh-TW" sz="1200">
                <a:solidFill>
                  <a:srgbClr val="EAF3F8"/>
                </a:solidFill>
                <a:latin typeface="Microsoft JhengHei"/>
                <a:ea typeface="Microsoft JhengHei"/>
              </a:rPr>
              <a:t>不在 API 回應中洩漏伺服器絕對路徑</a:t>
            </a:r>
          </a:p>
          <a:p>
            <a:pPr marL="285750" indent="-171450">
              <a:buChar char="•"/>
            </a:pPr>
            <a:r>
              <a:rPr lang="zh-TW" sz="1200">
                <a:solidFill>
                  <a:srgbClr val="EAF3F8"/>
                </a:solidFill>
                <a:latin typeface="Microsoft JhengHei"/>
                <a:ea typeface="Microsoft JhengHei"/>
              </a:rPr>
              <a:t>debug/maintenance 介面預設關閉</a:t>
            </a:r>
          </a:p>
          <a:p>
            <a:pPr marL="285750" indent="-171450">
              <a:buChar char="•"/>
            </a:pPr>
            <a:r>
              <a:rPr lang="zh-TW" sz="1200">
                <a:solidFill>
                  <a:srgbClr val="EAF3F8"/>
                </a:solidFill>
                <a:latin typeface="Microsoft JhengHei"/>
                <a:ea typeface="Microsoft JhengHei"/>
              </a:rPr>
              <a:t>最小權限部署與網路隔離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1000">
            <a:solidFill>
              <a:srgbClr val="08111F"/>
            </a:solidFill>
          </a:ln>
        </p:spPr>
        <p:txBody>
          <a:bodyPr/>
          <a:lstStyle/>
          <a:p/>
        </p:txBody>
      </p:sp>
      <p:sp>
        <p:nvSpPr>
          <p:cNvPr id="100" name="panel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0A1A2A"/>
          </a:solidFill>
          <a:ln w="11000">
            <a:solidFill>
              <a:srgbClr val="0A1A2A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685800" y="4389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2FE6D0"/>
                </a:solidFill>
                <a:latin typeface="Aptos"/>
                <a:ea typeface="Aptos"/>
              </a:rPr>
              <a:t>SECURITY LAB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85039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FFB35C"/>
                </a:solidFill>
                <a:latin typeface="Aptos"/>
                <a:ea typeface="Aptos"/>
              </a:rPr>
              <a:t>BEST PRACTICES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1097280"/>
            <a:ext cx="8366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2500" b="1">
                <a:solidFill>
                  <a:srgbClr val="EAF3F8"/>
                </a:solidFill>
                <a:latin typeface="Microsoft JhengHei"/>
                <a:ea typeface="Microsoft JhengHei"/>
              </a:rPr>
              <a:t>把防線放進開發流程，而不是只靠事後修補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6519672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700">
                <a:solidFill>
                  <a:srgbClr val="7893A4"/>
                </a:solidFill>
                <a:latin typeface="Aptos"/>
                <a:ea typeface="Aptos"/>
              </a:rPr>
              <a:t>CVE-2024-23334 | aiohttp Path Traversal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914400" y="2468880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TW" sz="2500" b="1">
                <a:solidFill>
                  <a:srgbClr val="2FE6D0"/>
                </a:solidFill>
                <a:latin typeface="Aptos Display"/>
                <a:ea typeface="Aptos Display"/>
              </a:rPr>
              <a:t>Design → Code → CI → Deploy → Monitor</a:t>
            </a:r>
          </a:p>
        </p:txBody>
      </p:sp>
      <p:sp>
        <p:nvSpPr>
          <p:cNvPr id="103" name="bullets"/>
          <p:cNvSpPr txBox="1"/>
          <p:nvPr/>
        </p:nvSpPr>
        <p:spPr>
          <a:xfrm>
            <a:off x="914400" y="3977639"/>
            <a:ext cx="9875520" cy="1508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171450">
              <a:buChar char="•"/>
            </a:pPr>
            <a:r>
              <a:rPr lang="zh-TW" sz="1300">
                <a:solidFill>
                  <a:srgbClr val="EAF3F8"/>
                </a:solidFill>
                <a:latin typeface="Microsoft JhengHei"/>
                <a:ea typeface="Microsoft JhengHei"/>
              </a:rPr>
              <a:t>用 SCA 工具掃描依賴套件 CVE，並在 CI/CD 阻擋高風險版本</a:t>
            </a:r>
          </a:p>
          <a:p>
            <a:pPr marL="285750" indent="-171450">
              <a:buChar char="•"/>
            </a:pPr>
            <a:r>
              <a:rPr lang="zh-TW" sz="1300">
                <a:solidFill>
                  <a:srgbClr val="EAF3F8"/>
                </a:solidFill>
                <a:latin typeface="Microsoft JhengHei"/>
                <a:ea typeface="Microsoft JhengHei"/>
              </a:rPr>
              <a:t>採用 secure defaults：debug off、deny by default、least privilege</a:t>
            </a:r>
          </a:p>
          <a:p>
            <a:pPr marL="285750" indent="-171450">
              <a:buChar char="•"/>
            </a:pPr>
            <a:r>
              <a:rPr lang="zh-TW" sz="1300">
                <a:solidFill>
                  <a:srgbClr val="EAF3F8"/>
                </a:solidFill>
                <a:latin typeface="Microsoft JhengHei"/>
                <a:ea typeface="Microsoft JhengHei"/>
              </a:rPr>
              <a:t>所有檔案存取使用 allowlist 與 canonical path 檢查</a:t>
            </a:r>
          </a:p>
          <a:p>
            <a:pPr marL="285750" indent="-171450">
              <a:buChar char="•"/>
            </a:pPr>
            <a:r>
              <a:rPr lang="zh-TW" sz="1300">
                <a:solidFill>
                  <a:srgbClr val="EAF3F8"/>
                </a:solidFill>
                <a:latin typeface="Microsoft JhengHei"/>
                <a:ea typeface="Microsoft JhengHei"/>
              </a:rPr>
              <a:t>secret manager 管理密鑰，避免憑據靠近 repo 或靜態目錄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1000">
            <a:solidFill>
              <a:srgbClr val="08111F"/>
            </a:solidFill>
          </a:ln>
        </p:spPr>
        <p:txBody>
          <a:bodyPr/>
          <a:lstStyle/>
          <a:p/>
        </p:txBody>
      </p:sp>
      <p:sp>
        <p:nvSpPr>
          <p:cNvPr id="100" name="panel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0A1A2A"/>
          </a:solidFill>
          <a:ln w="11000">
            <a:solidFill>
              <a:srgbClr val="0A1A2A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685800" y="43891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2FE6D0"/>
                </a:solidFill>
                <a:latin typeface="Aptos"/>
                <a:ea typeface="Aptos"/>
              </a:rPr>
              <a:t>SECURITY LAB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85039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FFB35C"/>
                </a:solidFill>
                <a:latin typeface="Aptos"/>
                <a:ea typeface="Aptos"/>
              </a:rPr>
              <a:t>TAKEAWAYS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1097280"/>
            <a:ext cx="8366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2500" b="1">
                <a:solidFill>
                  <a:srgbClr val="EAF3F8"/>
                </a:solidFill>
                <a:latin typeface="Microsoft JhengHei"/>
                <a:ea typeface="Microsoft JhengHei"/>
              </a:rPr>
              <a:t>CVE-2024-23334 的核心教訓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85800" y="6519672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700">
                <a:solidFill>
                  <a:srgbClr val="7893A4"/>
                </a:solidFill>
                <a:latin typeface="Aptos"/>
                <a:ea typeface="Aptos"/>
              </a:rPr>
              <a:t>CVE-2024-23334 | aiohttp Path Traversal</a:t>
            </a:r>
          </a:p>
        </p:txBody>
      </p:sp>
      <p:sp>
        <p:nvSpPr>
          <p:cNvPr id="103" name="bullets"/>
          <p:cNvSpPr txBox="1"/>
          <p:nvPr/>
        </p:nvSpPr>
        <p:spPr>
          <a:xfrm>
            <a:off x="749808" y="1920240"/>
            <a:ext cx="5577840" cy="228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171450">
              <a:buChar char="•"/>
            </a:pPr>
            <a:r>
              <a:rPr lang="zh-TW" sz="1400">
                <a:solidFill>
                  <a:srgbClr val="EAF3F8"/>
                </a:solidFill>
                <a:latin typeface="Microsoft JhengHei"/>
                <a:ea typeface="Microsoft JhengHei"/>
              </a:rPr>
              <a:t>Path Traversal 的本質是未限制解析後路徑</a:t>
            </a:r>
          </a:p>
          <a:p>
            <a:pPr marL="285750" indent="-171450">
              <a:buChar char="•"/>
            </a:pPr>
            <a:r>
              <a:rPr lang="zh-TW" sz="1400">
                <a:solidFill>
                  <a:srgbClr val="EAF3F8"/>
                </a:solidFill>
                <a:latin typeface="Microsoft JhengHei"/>
                <a:ea typeface="Microsoft JhengHei"/>
              </a:rPr>
              <a:t>aiohttp follow_symlinks=True 靜態路由曾造成任意檔案讀取風險</a:t>
            </a:r>
          </a:p>
          <a:p>
            <a:pPr marL="285750" indent="-171450">
              <a:buChar char="•"/>
            </a:pPr>
            <a:r>
              <a:rPr lang="zh-TW" sz="1400">
                <a:solidFill>
                  <a:srgbClr val="EAF3F8"/>
                </a:solidFill>
                <a:latin typeface="Microsoft JhengHei"/>
                <a:ea typeface="Microsoft JhengHei"/>
              </a:rPr>
              <a:t>直接影響是機密性破壞，但可串接成完整攻擊鏈</a:t>
            </a:r>
          </a:p>
          <a:p>
            <a:pPr marL="285750" indent="-171450">
              <a:buChar char="•"/>
            </a:pPr>
            <a:r>
              <a:rPr lang="zh-TW" sz="1400">
                <a:solidFill>
                  <a:srgbClr val="EAF3F8"/>
                </a:solidFill>
                <a:latin typeface="Microsoft JhengHei"/>
                <a:ea typeface="Microsoft JhengHei"/>
              </a:rPr>
              <a:t>修補策略要同時包含升級、移除危險設定、網路隔離與安全開發流程</a:t>
            </a:r>
          </a:p>
        </p:txBody>
      </p:sp>
      <p:sp>
        <p:nvSpPr>
          <p:cNvPr id="100" name="panel"/>
          <p:cNvSpPr/>
          <p:nvPr/>
        </p:nvSpPr>
        <p:spPr>
          <a:xfrm>
            <a:off x="6629400" y="1828800"/>
            <a:ext cx="4572000" cy="3474720"/>
          </a:xfrm>
          <a:prstGeom prst="roundRect">
            <a:avLst/>
          </a:prstGeom>
          <a:solidFill>
            <a:srgbClr val="0C1A28"/>
          </a:solidFill>
          <a:ln w="11000">
            <a:solidFill>
              <a:srgbClr val="244055"/>
            </a:solidFill>
          </a:ln>
        </p:spPr>
        <p:txBody>
          <a:bodyPr/>
          <a:lstStyle/>
          <a:p/>
        </p:txBody>
      </p:sp>
      <p:sp>
        <p:nvSpPr>
          <p:cNvPr id="102" name="text"/>
          <p:cNvSpPr txBox="1"/>
          <p:nvPr/>
        </p:nvSpPr>
        <p:spPr>
          <a:xfrm>
            <a:off x="6903720" y="2148840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800" b="1">
                <a:solidFill>
                  <a:srgbClr val="FFB35C"/>
                </a:solidFill>
                <a:latin typeface="Aptos"/>
                <a:ea typeface="Aptos"/>
              </a:rPr>
              <a:t>REFERENCES</a:t>
            </a:r>
          </a:p>
        </p:txBody>
      </p:sp>
      <p:sp>
        <p:nvSpPr>
          <p:cNvPr id="103" name="bullets"/>
          <p:cNvSpPr txBox="1"/>
          <p:nvPr/>
        </p:nvSpPr>
        <p:spPr>
          <a:xfrm>
            <a:off x="7022592" y="2615184"/>
            <a:ext cx="3822191" cy="1463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171450">
              <a:buChar char="•"/>
            </a:pPr>
            <a:r>
              <a:rPr lang="zh-TW" sz="1100">
                <a:solidFill>
                  <a:srgbClr val="EAF3F8"/>
                </a:solidFill>
                <a:latin typeface="Microsoft JhengHei"/>
                <a:ea typeface="Microsoft JhengHei"/>
              </a:rPr>
              <a:t>GitHub Advisory: GHSA-5h86-8mv2-jq9f</a:t>
            </a:r>
          </a:p>
          <a:p>
            <a:pPr marL="285750" indent="-171450">
              <a:buChar char="•"/>
            </a:pPr>
            <a:r>
              <a:rPr lang="zh-TW" sz="1100">
                <a:solidFill>
                  <a:srgbClr val="EAF3F8"/>
                </a:solidFill>
                <a:latin typeface="Microsoft JhengHei"/>
                <a:ea typeface="Microsoft JhengHei"/>
              </a:rPr>
              <a:t>NVD: CVE-2024-23334</a:t>
            </a:r>
          </a:p>
          <a:p>
            <a:pPr marL="285750" indent="-171450">
              <a:buChar char="•"/>
            </a:pPr>
            <a:r>
              <a:rPr lang="zh-TW" sz="1100">
                <a:solidFill>
                  <a:srgbClr val="EAF3F8"/>
                </a:solidFill>
                <a:latin typeface="Microsoft JhengHei"/>
                <a:ea typeface="Microsoft JhengHei"/>
              </a:rPr>
              <a:t>aiohttp Patch PR: #8079</a:t>
            </a:r>
          </a:p>
          <a:p>
            <a:pPr marL="285750" indent="-171450">
              <a:buChar char="•"/>
            </a:pPr>
            <a:r>
              <a:rPr lang="zh-TW" sz="1100">
                <a:solidFill>
                  <a:srgbClr val="EAF3F8"/>
                </a:solidFill>
                <a:latin typeface="Microsoft JhengHei"/>
                <a:ea typeface="Microsoft JhengHei"/>
              </a:rPr>
              <a:t>MITRE CWE-22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804672" y="5641848"/>
            <a:ext cx="9966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TW" sz="1200" b="1">
                <a:solidFill>
                  <a:srgbClr val="2FE6D0"/>
                </a:solidFill>
                <a:latin typeface="Microsoft JhengHei"/>
                <a:ea typeface="Microsoft JhengHei"/>
              </a:rPr>
              <a:t>建議錄影展示：docker compose up --build → exploit.sh → 說明修補方式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urityDark">
  <a:themeElements>
    <a:clrScheme name="SecurityDark">
      <a:dk1>
        <a:srgbClr val="08111F"/>
      </a:dk1>
      <a:lt1>
        <a:srgbClr val="EAF3F8"/>
      </a:lt1>
      <a:dk2>
        <a:srgbClr val="101E30"/>
      </a:dk2>
      <a:lt2>
        <a:srgbClr val="FFFFFF"/>
      </a:lt2>
      <a:accent1>
        <a:srgbClr val="2FE6D0"/>
      </a:accent1>
      <a:accent2>
        <a:srgbClr val="FFB35C"/>
      </a:accent2>
      <a:accent3>
        <a:srgbClr val="FF6464"/>
      </a:accent3>
      <a:accent4>
        <a:srgbClr val="72E28D"/>
      </a:accent4>
      <a:accent5>
        <a:srgbClr val="4BA3FF"/>
      </a:accent5>
      <a:accent6>
        <a:srgbClr val="92A7B3"/>
      </a:accent6>
      <a:hlink>
        <a:srgbClr val="4BA3FF"/>
      </a:hlink>
      <a:folHlink>
        <a:srgbClr val="FFB35C"/>
      </a:folHlink>
    </a:clrScheme>
    <a:fontScheme name="Office">
      <a:majorFont>
        <a:latin typeface="Microsoft JhengHei"/>
        <a:ea typeface="Microsoft JhengHei"/>
      </a:majorFont>
      <a:minorFont>
        <a:latin typeface="Microsoft JhengHei"/>
        <a:ea typeface="Microsoft JhengHei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CVE-2024-23334 aiohttp Path Traversal</dc:title>
  <dc:creator>Codex</dc:creator>
</cp:coreProperties>
</file>